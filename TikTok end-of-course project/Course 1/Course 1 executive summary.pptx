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59"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EEA25F-0C23-4EE1-9B50-7CFE553B7CC3}" v="2" dt="2026-03-31T14:52:05.5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2539" y="29"/>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microsoft.com/office/2015/10/relationships/revisionInfo" Target="revisionInfo.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31"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ANG DUNG#" userId="4f417bd5-f6f0-4d2d-a47b-d865b6e44374" providerId="ADAL" clId="{AB3E41C2-6534-4F41-8566-7F04D61C8197}"/>
    <pc:docChg chg="undo custSel modSld">
      <pc:chgData name="#NGUYEN DANG DUNG#" userId="4f417bd5-f6f0-4d2d-a47b-d865b6e44374" providerId="ADAL" clId="{AB3E41C2-6534-4F41-8566-7F04D61C8197}" dt="2026-03-31T14:52:46.642" v="125" actId="1076"/>
      <pc:docMkLst>
        <pc:docMk/>
      </pc:docMkLst>
      <pc:sldChg chg="addSp delSp modSp mod">
        <pc:chgData name="#NGUYEN DANG DUNG#" userId="4f417bd5-f6f0-4d2d-a47b-d865b6e44374" providerId="ADAL" clId="{AB3E41C2-6534-4F41-8566-7F04D61C8197}" dt="2026-03-31T14:52:46.642" v="125" actId="1076"/>
        <pc:sldMkLst>
          <pc:docMk/>
          <pc:sldMk cId="0" sldId="259"/>
        </pc:sldMkLst>
        <pc:spChg chg="add mod">
          <ac:chgData name="#NGUYEN DANG DUNG#" userId="4f417bd5-f6f0-4d2d-a47b-d865b6e44374" providerId="ADAL" clId="{AB3E41C2-6534-4F41-8566-7F04D61C8197}" dt="2026-03-31T14:52:46.642" v="125" actId="1076"/>
          <ac:spMkLst>
            <pc:docMk/>
            <pc:sldMk cId="0" sldId="259"/>
            <ac:spMk id="5" creationId="{6F1B6E7F-2269-6537-86D9-F283F1D077BB}"/>
          </ac:spMkLst>
        </pc:spChg>
        <pc:spChg chg="del topLvl">
          <ac:chgData name="#NGUYEN DANG DUNG#" userId="4f417bd5-f6f0-4d2d-a47b-d865b6e44374" providerId="ADAL" clId="{AB3E41C2-6534-4F41-8566-7F04D61C8197}" dt="2026-03-31T08:43:38.752" v="0" actId="478"/>
          <ac:spMkLst>
            <pc:docMk/>
            <pc:sldMk cId="0" sldId="259"/>
            <ac:spMk id="445" creationId="{00000000-0000-0000-0000-000000000000}"/>
          </ac:spMkLst>
        </pc:spChg>
        <pc:spChg chg="del mod topLvl">
          <ac:chgData name="#NGUYEN DANG DUNG#" userId="4f417bd5-f6f0-4d2d-a47b-d865b6e44374" providerId="ADAL" clId="{AB3E41C2-6534-4F41-8566-7F04D61C8197}" dt="2026-03-31T08:43:45.770" v="2" actId="478"/>
          <ac:spMkLst>
            <pc:docMk/>
            <pc:sldMk cId="0" sldId="259"/>
            <ac:spMk id="446" creationId="{00000000-0000-0000-0000-000000000000}"/>
          </ac:spMkLst>
        </pc:spChg>
        <pc:grpChg chg="del">
          <ac:chgData name="#NGUYEN DANG DUNG#" userId="4f417bd5-f6f0-4d2d-a47b-d865b6e44374" providerId="ADAL" clId="{AB3E41C2-6534-4F41-8566-7F04D61C8197}" dt="2026-03-31T08:43:38.752" v="0" actId="478"/>
          <ac:grpSpMkLst>
            <pc:docMk/>
            <pc:sldMk cId="0" sldId="259"/>
            <ac:grpSpMk id="444"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e3a6309cc6_3_32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e3a6309cc6_3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5">
  <p:cSld name="CUSTOM_2">
    <p:spTree>
      <p:nvGrpSpPr>
        <p:cNvPr id="1" name="Shape 353"/>
        <p:cNvGrpSpPr/>
        <p:nvPr/>
      </p:nvGrpSpPr>
      <p:grpSpPr>
        <a:xfrm>
          <a:off x="0" y="0"/>
          <a:ext cx="0" cy="0"/>
          <a:chOff x="0" y="0"/>
          <a:chExt cx="0" cy="0"/>
        </a:xfrm>
      </p:grpSpPr>
      <p:cxnSp>
        <p:nvCxnSpPr>
          <p:cNvPr id="354" name="Google Shape;354;p14"/>
          <p:cNvCxnSpPr/>
          <p:nvPr/>
        </p:nvCxnSpPr>
        <p:spPr>
          <a:xfrm>
            <a:off x="3049395" y="13591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355" name="Google Shape;355;p14"/>
          <p:cNvCxnSpPr>
            <a:stCxn id="356" idx="0"/>
          </p:cNvCxnSpPr>
          <p:nvPr/>
        </p:nvCxnSpPr>
        <p:spPr>
          <a:xfrm flipH="1">
            <a:off x="172020" y="13608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357" name="Google Shape;357;p14"/>
          <p:cNvGrpSpPr/>
          <p:nvPr/>
        </p:nvGrpSpPr>
        <p:grpSpPr>
          <a:xfrm>
            <a:off x="190320" y="1357857"/>
            <a:ext cx="7581691" cy="5901"/>
            <a:chOff x="1890075" y="5241175"/>
            <a:chExt cx="4240556" cy="257700"/>
          </a:xfrm>
        </p:grpSpPr>
        <p:sp>
          <p:nvSpPr>
            <p:cNvPr id="356" name="Google Shape;356;p14"/>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8" name="Google Shape;358;p14"/>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59" name="Google Shape;359;p14"/>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60" name="Google Shape;360;p14"/>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361" name="Google Shape;361;p14"/>
          <p:cNvGrpSpPr/>
          <p:nvPr/>
        </p:nvGrpSpPr>
        <p:grpSpPr>
          <a:xfrm>
            <a:off x="190320" y="1388959"/>
            <a:ext cx="7581691" cy="5901"/>
            <a:chOff x="1890075" y="5241175"/>
            <a:chExt cx="4240556" cy="257700"/>
          </a:xfrm>
        </p:grpSpPr>
        <p:sp>
          <p:nvSpPr>
            <p:cNvPr id="362" name="Google Shape;362;p14"/>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63" name="Google Shape;363;p14"/>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64" name="Google Shape;364;p14"/>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65" name="Google Shape;365;p14"/>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366" name="Google Shape;366;p14"/>
          <p:cNvSpPr txBox="1"/>
          <p:nvPr/>
        </p:nvSpPr>
        <p:spPr>
          <a:xfrm>
            <a:off x="490594"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367" name="Google Shape;367;p14"/>
          <p:cNvGrpSpPr/>
          <p:nvPr/>
        </p:nvGrpSpPr>
        <p:grpSpPr>
          <a:xfrm>
            <a:off x="372224" y="1650425"/>
            <a:ext cx="137818" cy="187200"/>
            <a:chOff x="507100" y="1997600"/>
            <a:chExt cx="158375" cy="187200"/>
          </a:xfrm>
        </p:grpSpPr>
        <p:sp>
          <p:nvSpPr>
            <p:cNvPr id="368" name="Google Shape;368;p1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14"/>
          <p:cNvSpPr txBox="1"/>
          <p:nvPr/>
        </p:nvSpPr>
        <p:spPr>
          <a:xfrm>
            <a:off x="3314919"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371" name="Google Shape;371;p14"/>
          <p:cNvGrpSpPr/>
          <p:nvPr/>
        </p:nvGrpSpPr>
        <p:grpSpPr>
          <a:xfrm>
            <a:off x="3196549" y="1650425"/>
            <a:ext cx="137818" cy="187200"/>
            <a:chOff x="507100" y="1997600"/>
            <a:chExt cx="158375" cy="187200"/>
          </a:xfrm>
        </p:grpSpPr>
        <p:sp>
          <p:nvSpPr>
            <p:cNvPr id="372" name="Google Shape;372;p1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4" name="Google Shape;374;p14"/>
          <p:cNvSpPr txBox="1"/>
          <p:nvPr/>
        </p:nvSpPr>
        <p:spPr>
          <a:xfrm>
            <a:off x="3314919" y="43673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375" name="Google Shape;375;p14"/>
          <p:cNvGrpSpPr/>
          <p:nvPr/>
        </p:nvGrpSpPr>
        <p:grpSpPr>
          <a:xfrm>
            <a:off x="3196549" y="4473625"/>
            <a:ext cx="137818" cy="187200"/>
            <a:chOff x="507100" y="1997600"/>
            <a:chExt cx="158375" cy="187200"/>
          </a:xfrm>
        </p:grpSpPr>
        <p:sp>
          <p:nvSpPr>
            <p:cNvPr id="376" name="Google Shape;376;p1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 name="Google Shape;378;p14"/>
          <p:cNvGrpSpPr/>
          <p:nvPr/>
        </p:nvGrpSpPr>
        <p:grpSpPr>
          <a:xfrm>
            <a:off x="172050" y="5100163"/>
            <a:ext cx="2852450" cy="4958106"/>
            <a:chOff x="404700" y="4541500"/>
            <a:chExt cx="2852450" cy="5007177"/>
          </a:xfrm>
        </p:grpSpPr>
        <p:sp>
          <p:nvSpPr>
            <p:cNvPr id="379" name="Google Shape;379;p14"/>
            <p:cNvSpPr/>
            <p:nvPr/>
          </p:nvSpPr>
          <p:spPr>
            <a:xfrm>
              <a:off x="404700" y="4574122"/>
              <a:ext cx="2758200" cy="49338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p:nvPr/>
          </p:nvSpPr>
          <p:spPr>
            <a:xfrm>
              <a:off x="452450" y="4614877"/>
              <a:ext cx="2804700" cy="49338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4"/>
            <p:cNvSpPr txBox="1"/>
            <p:nvPr/>
          </p:nvSpPr>
          <p:spPr>
            <a:xfrm>
              <a:off x="643125" y="4541500"/>
              <a:ext cx="2595900" cy="41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382" name="Google Shape;382;p14"/>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4" name="Google Shape;384;p14"/>
          <p:cNvSpPr txBox="1"/>
          <p:nvPr/>
        </p:nvSpPr>
        <p:spPr>
          <a:xfrm>
            <a:off x="190350" y="11200"/>
            <a:ext cx="7290900"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ctr" rtl="0">
              <a:spcBef>
                <a:spcPts val="0"/>
              </a:spcBef>
              <a:spcAft>
                <a:spcPts val="0"/>
              </a:spcAft>
              <a:buNone/>
            </a:pPr>
            <a:endParaRPr sz="2100">
              <a:solidFill>
                <a:srgbClr val="000000"/>
              </a:solidFill>
              <a:latin typeface="Google Sans SemiBold"/>
              <a:ea typeface="Google Sans SemiBold"/>
              <a:cs typeface="Google Sans SemiBold"/>
              <a:sym typeface="Google Sans SemiBold"/>
            </a:endParaRPr>
          </a:p>
        </p:txBody>
      </p:sp>
      <p:sp>
        <p:nvSpPr>
          <p:cNvPr id="385" name="Google Shape;385;p14"/>
          <p:cNvSpPr txBox="1"/>
          <p:nvPr/>
        </p:nvSpPr>
        <p:spPr>
          <a:xfrm>
            <a:off x="2226300" y="513400"/>
            <a:ext cx="32190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endParaRPr sz="1200">
              <a:solidFill>
                <a:srgbClr val="000000"/>
              </a:solidFill>
              <a:latin typeface="PT Sans Narrow"/>
              <a:ea typeface="PT Sans Narrow"/>
              <a:cs typeface="PT Sans Narrow"/>
              <a:sym typeface="PT Sans Narrow"/>
            </a:endParaRPr>
          </a:p>
        </p:txBody>
      </p:sp>
      <p:sp>
        <p:nvSpPr>
          <p:cNvPr id="386" name="Google Shape;386;p14"/>
          <p:cNvSpPr>
            <a:spLocks noGrp="1"/>
          </p:cNvSpPr>
          <p:nvPr>
            <p:ph type="pic" idx="2"/>
          </p:nvPr>
        </p:nvSpPr>
        <p:spPr>
          <a:xfrm>
            <a:off x="4467025" y="5862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3" name="TextBox 2">
            <a:extLst>
              <a:ext uri="{FF2B5EF4-FFF2-40B4-BE49-F238E27FC236}">
                <a16:creationId xmlns:a16="http://schemas.microsoft.com/office/drawing/2014/main" id="{525AAFBE-726C-3F04-F1F5-123D31406CC0}"/>
              </a:ext>
            </a:extLst>
          </p:cNvPr>
          <p:cNvSpPr txBox="1"/>
          <p:nvPr/>
        </p:nvSpPr>
        <p:spPr>
          <a:xfrm>
            <a:off x="188700" y="1988457"/>
            <a:ext cx="2859300" cy="2523768"/>
          </a:xfrm>
          <a:prstGeom prst="rect">
            <a:avLst/>
          </a:prstGeom>
          <a:noFill/>
        </p:spPr>
        <p:txBody>
          <a:bodyPr wrap="square" rtlCol="0">
            <a:spAutoFit/>
          </a:bodyPr>
          <a:lstStyle/>
          <a:p>
            <a:r>
              <a:rPr lang="en-US" sz="1600" dirty="0">
                <a:latin typeface="Google Sans" panose="020B0604020202020204" charset="0"/>
                <a:ea typeface="Google Sans" panose="020B0604020202020204" charset="0"/>
                <a:cs typeface="Google Sans" panose="020B0604020202020204" charset="0"/>
              </a:rPr>
              <a:t>The TikTok data team seeks to develop a machine learning model to assist in the classification of claims for user videos. First, TikTok’s provided data needs to be examined to prepare for the process of exploratory data analysis (EDA).</a:t>
            </a:r>
          </a:p>
          <a:p>
            <a:endParaRPr lang="en-US" dirty="0"/>
          </a:p>
        </p:txBody>
      </p:sp>
      <p:sp>
        <p:nvSpPr>
          <p:cNvPr id="4" name="TextBox 3">
            <a:extLst>
              <a:ext uri="{FF2B5EF4-FFF2-40B4-BE49-F238E27FC236}">
                <a16:creationId xmlns:a16="http://schemas.microsoft.com/office/drawing/2014/main" id="{6094A9A5-B3FF-5E51-A546-019C137EE6D9}"/>
              </a:ext>
            </a:extLst>
          </p:cNvPr>
          <p:cNvSpPr txBox="1"/>
          <p:nvPr/>
        </p:nvSpPr>
        <p:spPr>
          <a:xfrm>
            <a:off x="3048001" y="1988457"/>
            <a:ext cx="4724400" cy="2523768"/>
          </a:xfrm>
          <a:prstGeom prst="rect">
            <a:avLst/>
          </a:prstGeom>
          <a:noFill/>
        </p:spPr>
        <p:txBody>
          <a:bodyPr wrap="square" rtlCol="0">
            <a:spAutoFit/>
          </a:bodyPr>
          <a:lstStyle/>
          <a:p>
            <a:r>
              <a:rPr lang="en-US" sz="1600" dirty="0">
                <a:latin typeface="Google Sans" panose="020B0604020202020204" charset="0"/>
                <a:ea typeface="Google Sans" panose="020B0604020202020204" charset="0"/>
                <a:cs typeface="Google Sans" panose="020B0604020202020204" charset="0"/>
              </a:rPr>
              <a:t>The data team performed a preliminary investigation of the classification dataset to discover important relationships between variables.</a:t>
            </a:r>
          </a:p>
          <a:p>
            <a:endParaRPr lang="en-US" sz="1600" dirty="0">
              <a:latin typeface="Google Sans" panose="020B0604020202020204" charset="0"/>
              <a:ea typeface="Google Sans" panose="020B0604020202020204" charset="0"/>
              <a:cs typeface="Google Sans" panose="020B0604020202020204" charset="0"/>
            </a:endParaRPr>
          </a:p>
          <a:p>
            <a:r>
              <a:rPr lang="en-US" sz="1600" dirty="0">
                <a:latin typeface="Google Sans" panose="020B0604020202020204" charset="0"/>
                <a:ea typeface="Google Sans" panose="020B0604020202020204" charset="0"/>
                <a:cs typeface="Google Sans" panose="020B0604020202020204" charset="0"/>
              </a:rPr>
              <a:t>Specifically, for each category of claims and opinions, the data team looked at their respective number of videos, author ban status, and average video view, like, share, and comment count.</a:t>
            </a:r>
            <a:br>
              <a:rPr lang="en-US" dirty="0"/>
            </a:br>
            <a:endParaRPr lang="en-US" dirty="0"/>
          </a:p>
        </p:txBody>
      </p:sp>
      <p:pic>
        <p:nvPicPr>
          <p:cNvPr id="8" name="Picture 7">
            <a:extLst>
              <a:ext uri="{FF2B5EF4-FFF2-40B4-BE49-F238E27FC236}">
                <a16:creationId xmlns:a16="http://schemas.microsoft.com/office/drawing/2014/main" id="{CC22635B-9E9A-0608-E2C2-89D9274F15BA}"/>
              </a:ext>
            </a:extLst>
          </p:cNvPr>
          <p:cNvPicPr>
            <a:picLocks noChangeAspect="1"/>
          </p:cNvPicPr>
          <p:nvPr/>
        </p:nvPicPr>
        <p:blipFill>
          <a:blip r:embed="rId3"/>
          <a:stretch>
            <a:fillRect/>
          </a:stretch>
        </p:blipFill>
        <p:spPr>
          <a:xfrm>
            <a:off x="4471557" y="5321587"/>
            <a:ext cx="1814286" cy="582235"/>
          </a:xfrm>
          <a:prstGeom prst="rect">
            <a:avLst/>
          </a:prstGeom>
        </p:spPr>
      </p:pic>
      <p:sp>
        <p:nvSpPr>
          <p:cNvPr id="9" name="TextBox 8">
            <a:extLst>
              <a:ext uri="{FF2B5EF4-FFF2-40B4-BE49-F238E27FC236}">
                <a16:creationId xmlns:a16="http://schemas.microsoft.com/office/drawing/2014/main" id="{DD654726-0C61-5BCC-AE14-F168EE7EEE76}"/>
              </a:ext>
            </a:extLst>
          </p:cNvPr>
          <p:cNvSpPr txBox="1"/>
          <p:nvPr/>
        </p:nvSpPr>
        <p:spPr>
          <a:xfrm>
            <a:off x="3048000" y="4736812"/>
            <a:ext cx="4724401" cy="584775"/>
          </a:xfrm>
          <a:prstGeom prst="rect">
            <a:avLst/>
          </a:prstGeom>
          <a:noFill/>
        </p:spPr>
        <p:txBody>
          <a:bodyPr wrap="square" rtlCol="0">
            <a:spAutoFit/>
          </a:bodyPr>
          <a:lstStyle/>
          <a:p>
            <a:r>
              <a:rPr lang="en-US" sz="1600" dirty="0">
                <a:latin typeface="Google Sans" panose="020B0604020202020204" charset="0"/>
                <a:ea typeface="Google Sans" panose="020B0604020202020204" charset="0"/>
                <a:cs typeface="Google Sans" panose="020B0604020202020204" charset="0"/>
              </a:rPr>
              <a:t>The counts of each claim status are quite balanced, with 9,608 claims and 9,476 opinions</a:t>
            </a:r>
            <a:r>
              <a:rPr lang="en-US" sz="1600" dirty="0"/>
              <a:t>.</a:t>
            </a:r>
          </a:p>
        </p:txBody>
      </p:sp>
      <p:sp>
        <p:nvSpPr>
          <p:cNvPr id="10" name="TextBox 9">
            <a:extLst>
              <a:ext uri="{FF2B5EF4-FFF2-40B4-BE49-F238E27FC236}">
                <a16:creationId xmlns:a16="http://schemas.microsoft.com/office/drawing/2014/main" id="{FB56F58A-2413-E5E7-A6E7-F09799A758FD}"/>
              </a:ext>
            </a:extLst>
          </p:cNvPr>
          <p:cNvSpPr txBox="1"/>
          <p:nvPr/>
        </p:nvSpPr>
        <p:spPr>
          <a:xfrm>
            <a:off x="3048000" y="5903822"/>
            <a:ext cx="4724400" cy="2708434"/>
          </a:xfrm>
          <a:prstGeom prst="rect">
            <a:avLst/>
          </a:prstGeom>
          <a:noFill/>
        </p:spPr>
        <p:txBody>
          <a:bodyPr wrap="square" rtlCol="0">
            <a:spAutoFit/>
          </a:bodyPr>
          <a:lstStyle/>
          <a:p>
            <a:pPr fontAlgn="base" latinLnBrk="1"/>
            <a:r>
              <a:rPr lang="en-US" sz="1600" dirty="0">
                <a:latin typeface="Google Sans" panose="020B0604020202020204" charset="0"/>
                <a:ea typeface="Google Sans" panose="020B0604020202020204" charset="0"/>
                <a:cs typeface="Google Sans" panose="020B0604020202020204" charset="0"/>
              </a:rPr>
              <a:t>The mean and median view count for both video categories show an association between content type and video counts.</a:t>
            </a:r>
          </a:p>
          <a:p>
            <a:pPr fontAlgn="base" latinLnBrk="1"/>
            <a:endParaRPr lang="en-US" sz="800" dirty="0">
              <a:latin typeface="Google Sans" panose="020B0604020202020204" charset="0"/>
              <a:ea typeface="Google Sans" panose="020B0604020202020204" charset="0"/>
              <a:cs typeface="Google Sans" panose="020B0604020202020204" charset="0"/>
            </a:endParaRPr>
          </a:p>
          <a:p>
            <a:pPr fontAlgn="base" latinLnBrk="1"/>
            <a:r>
              <a:rPr lang="en-US" dirty="0">
                <a:latin typeface="Courier New" panose="02070309020205020404" pitchFamily="49" charset="0"/>
                <a:ea typeface="Google Sans" panose="020B0604020202020204" charset="0"/>
                <a:cs typeface="Courier New" panose="02070309020205020404" pitchFamily="49" charset="0"/>
              </a:rPr>
              <a:t>Mean view count claims: 501029.4527477102</a:t>
            </a:r>
          </a:p>
          <a:p>
            <a:pPr fontAlgn="base" latinLnBrk="1"/>
            <a:r>
              <a:rPr lang="en-US" dirty="0">
                <a:latin typeface="Courier New" panose="02070309020205020404" pitchFamily="49" charset="0"/>
                <a:ea typeface="Google Sans" panose="020B0604020202020204" charset="0"/>
                <a:cs typeface="Courier New" panose="02070309020205020404" pitchFamily="49" charset="0"/>
              </a:rPr>
              <a:t>Median view count claims: 501555.0</a:t>
            </a:r>
          </a:p>
          <a:p>
            <a:pPr fontAlgn="base" latinLnBrk="1"/>
            <a:r>
              <a:rPr lang="en-US" dirty="0">
                <a:latin typeface="Courier New" panose="02070309020205020404" pitchFamily="49" charset="0"/>
                <a:ea typeface="Google Sans" panose="020B0604020202020204" charset="0"/>
                <a:cs typeface="Courier New" panose="02070309020205020404" pitchFamily="49" charset="0"/>
              </a:rPr>
              <a:t>Mean view count opinions: 4956.43224989447</a:t>
            </a:r>
          </a:p>
          <a:p>
            <a:pPr fontAlgn="base" latinLnBrk="1"/>
            <a:r>
              <a:rPr lang="en-US" dirty="0">
                <a:latin typeface="Courier New" panose="02070309020205020404" pitchFamily="49" charset="0"/>
                <a:ea typeface="Google Sans" panose="020B0604020202020204" charset="0"/>
                <a:cs typeface="Courier New" panose="02070309020205020404" pitchFamily="49" charset="0"/>
              </a:rPr>
              <a:t>Median view count opinions: 4953.0</a:t>
            </a:r>
          </a:p>
          <a:p>
            <a:pPr fontAlgn="base" latinLnBrk="1"/>
            <a:endParaRPr lang="en-US" sz="1000" dirty="0">
              <a:latin typeface="Courier New" panose="02070309020205020404" pitchFamily="49" charset="0"/>
              <a:ea typeface="Google Sans" panose="020B0604020202020204" charset="0"/>
              <a:cs typeface="Courier New" panose="02070309020205020404" pitchFamily="49" charset="0"/>
            </a:endParaRPr>
          </a:p>
          <a:p>
            <a:r>
              <a:rPr lang="en-US" sz="1600" dirty="0">
                <a:latin typeface="Google Sans" panose="020B0604020202020204" charset="0"/>
                <a:ea typeface="Google Sans" panose="020B0604020202020204" charset="0"/>
                <a:cs typeface="Google Sans" panose="020B0604020202020204" charset="0"/>
              </a:rPr>
              <a:t>The author ban status count for each claim status represents a tendency for videos of banned authors to represent claims rather than opinions.</a:t>
            </a:r>
          </a:p>
        </p:txBody>
      </p:sp>
      <p:pic>
        <p:nvPicPr>
          <p:cNvPr id="14" name="Picture 13">
            <a:extLst>
              <a:ext uri="{FF2B5EF4-FFF2-40B4-BE49-F238E27FC236}">
                <a16:creationId xmlns:a16="http://schemas.microsoft.com/office/drawing/2014/main" id="{9EA811BE-B5F3-2996-F9FC-9D33333F0B93}"/>
              </a:ext>
            </a:extLst>
          </p:cNvPr>
          <p:cNvPicPr>
            <a:picLocks noChangeAspect="1"/>
          </p:cNvPicPr>
          <p:nvPr/>
        </p:nvPicPr>
        <p:blipFill>
          <a:blip r:embed="rId4"/>
          <a:stretch>
            <a:fillRect/>
          </a:stretch>
        </p:blipFill>
        <p:spPr>
          <a:xfrm>
            <a:off x="4378400" y="8612256"/>
            <a:ext cx="2063599" cy="1436426"/>
          </a:xfrm>
          <a:prstGeom prst="rect">
            <a:avLst/>
          </a:prstGeom>
        </p:spPr>
      </p:pic>
      <p:sp>
        <p:nvSpPr>
          <p:cNvPr id="16" name="TextBox 15">
            <a:extLst>
              <a:ext uri="{FF2B5EF4-FFF2-40B4-BE49-F238E27FC236}">
                <a16:creationId xmlns:a16="http://schemas.microsoft.com/office/drawing/2014/main" id="{CAEF6FBD-B608-2D1D-931F-CD06C8C4D6A2}"/>
              </a:ext>
            </a:extLst>
          </p:cNvPr>
          <p:cNvSpPr txBox="1"/>
          <p:nvPr/>
        </p:nvSpPr>
        <p:spPr>
          <a:xfrm>
            <a:off x="188700" y="5546174"/>
            <a:ext cx="2859300" cy="4529445"/>
          </a:xfrm>
          <a:prstGeom prst="rect">
            <a:avLst/>
          </a:prstGeom>
          <a:noFill/>
        </p:spPr>
        <p:txBody>
          <a:bodyPr wrap="square">
            <a:spAutoFit/>
          </a:bodyPr>
          <a:lstStyle/>
          <a:p>
            <a:pPr rtl="0">
              <a:spcAft>
                <a:spcPts val="1000"/>
              </a:spcAft>
              <a:buNone/>
            </a:pPr>
            <a:r>
              <a:rPr lang="en-US" sz="1600" dirty="0">
                <a:latin typeface="Google Sans" panose="020B0604020202020204" charset="0"/>
              </a:rPr>
              <a:t>T</a:t>
            </a:r>
            <a:r>
              <a:rPr lang="en-US" sz="1600" b="0" i="0" u="none" strike="noStrike" dirty="0">
                <a:solidFill>
                  <a:srgbClr val="000000"/>
                </a:solidFill>
                <a:effectLst/>
                <a:latin typeface="Google Sans" panose="020B0604020202020204" charset="0"/>
              </a:rPr>
              <a:t>o understand the impact of user videos, the data team identified several variables to consider</a:t>
            </a:r>
            <a:r>
              <a:rPr lang="en-US" sz="1600" dirty="0">
                <a:latin typeface="Google Sans" panose="020B0604020202020204" charset="0"/>
              </a:rPr>
              <a:t>, namely counter variables such as</a:t>
            </a:r>
            <a:r>
              <a:rPr lang="en-US" sz="1600" b="0" i="0" u="none" strike="noStrike" dirty="0">
                <a:solidFill>
                  <a:srgbClr val="000000"/>
                </a:solidFill>
                <a:effectLst/>
                <a:latin typeface="Google Sans" panose="020B0604020202020204" charset="0"/>
              </a:rPr>
              <a:t> </a:t>
            </a:r>
            <a:r>
              <a:rPr lang="en-US" sz="1600" b="0" i="0" u="none" strike="noStrike" dirty="0" err="1">
                <a:solidFill>
                  <a:srgbClr val="000000"/>
                </a:solidFill>
                <a:effectLst/>
                <a:latin typeface="Google Sans" panose="020B0604020202020204" charset="0"/>
              </a:rPr>
              <a:t>video_view</a:t>
            </a:r>
            <a:r>
              <a:rPr lang="en-US" sz="1600" dirty="0" err="1">
                <a:latin typeface="Google Sans" panose="020B0604020202020204" charset="0"/>
              </a:rPr>
              <a:t>_count</a:t>
            </a:r>
            <a:r>
              <a:rPr lang="en-US" sz="1600" dirty="0">
                <a:latin typeface="Google Sans" panose="020B0604020202020204" charset="0"/>
              </a:rPr>
              <a:t>, </a:t>
            </a:r>
            <a:r>
              <a:rPr lang="en-US" sz="1600" dirty="0" err="1">
                <a:latin typeface="Google Sans" panose="020B0604020202020204" charset="0"/>
              </a:rPr>
              <a:t>video_like_count</a:t>
            </a:r>
            <a:r>
              <a:rPr lang="en-US" sz="1600" dirty="0">
                <a:latin typeface="Google Sans" panose="020B0604020202020204" charset="0"/>
              </a:rPr>
              <a:t>, </a:t>
            </a:r>
            <a:r>
              <a:rPr lang="en-US" sz="1600" dirty="0" err="1">
                <a:latin typeface="Google Sans" panose="020B0604020202020204" charset="0"/>
              </a:rPr>
              <a:t>video_share_count</a:t>
            </a:r>
            <a:r>
              <a:rPr lang="en-US" sz="1600" dirty="0">
                <a:latin typeface="Google Sans" panose="020B0604020202020204" charset="0"/>
              </a:rPr>
              <a:t>, and </a:t>
            </a:r>
            <a:r>
              <a:rPr lang="en-US" sz="1600" dirty="0" err="1">
                <a:latin typeface="Google Sans" panose="020B0604020202020204" charset="0"/>
              </a:rPr>
              <a:t>video_comment_count</a:t>
            </a:r>
            <a:r>
              <a:rPr lang="en-US" sz="1600" dirty="0">
                <a:latin typeface="Google Sans" panose="020B0604020202020204" charset="0"/>
              </a:rPr>
              <a:t>, and additional engagement metrics such as </a:t>
            </a:r>
            <a:r>
              <a:rPr lang="en-US" sz="1600" dirty="0" err="1">
                <a:latin typeface="Google Sans" panose="020B0604020202020204" charset="0"/>
              </a:rPr>
              <a:t>likes_per_view</a:t>
            </a:r>
            <a:r>
              <a:rPr lang="en-US" sz="1600" dirty="0">
                <a:latin typeface="Google Sans" panose="020B0604020202020204" charset="0"/>
              </a:rPr>
              <a:t>, </a:t>
            </a:r>
            <a:r>
              <a:rPr lang="en-US" sz="1600" dirty="0" err="1">
                <a:latin typeface="Google Sans" panose="020B0604020202020204" charset="0"/>
              </a:rPr>
              <a:t>shares_per_view</a:t>
            </a:r>
            <a:r>
              <a:rPr lang="en-US" sz="1600" dirty="0">
                <a:latin typeface="Google Sans" panose="020B0604020202020204" charset="0"/>
              </a:rPr>
              <a:t>, and </a:t>
            </a:r>
            <a:r>
              <a:rPr lang="en-US" sz="1600" dirty="0" err="1">
                <a:latin typeface="Google Sans" panose="020B0604020202020204" charset="0"/>
              </a:rPr>
              <a:t>comments_per_view</a:t>
            </a:r>
            <a:r>
              <a:rPr lang="en-US" sz="1600" dirty="0">
                <a:latin typeface="Google Sans" panose="020B0604020202020204" charset="0"/>
              </a:rPr>
              <a:t>.</a:t>
            </a:r>
            <a:endParaRPr lang="en-US" sz="1600" b="0" dirty="0">
              <a:effectLst/>
            </a:endParaRPr>
          </a:p>
          <a:p>
            <a:pPr>
              <a:buNone/>
            </a:pPr>
            <a:br>
              <a:rPr lang="en-US" b="0" dirty="0">
                <a:effectLst/>
              </a:rPr>
            </a:br>
            <a:br>
              <a:rPr lang="en-US" b="0" dirty="0">
                <a:effectLst/>
              </a:rPr>
            </a:br>
            <a:br>
              <a:rPr lang="en-US" b="0" dirty="0">
                <a:effectLst/>
              </a:rPr>
            </a:br>
            <a:endParaRPr lang="en-US" dirty="0"/>
          </a:p>
        </p:txBody>
      </p:sp>
      <p:sp>
        <p:nvSpPr>
          <p:cNvPr id="5" name="TextBox 4">
            <a:extLst>
              <a:ext uri="{FF2B5EF4-FFF2-40B4-BE49-F238E27FC236}">
                <a16:creationId xmlns:a16="http://schemas.microsoft.com/office/drawing/2014/main" id="{6F1B6E7F-2269-6537-86D9-F283F1D077BB}"/>
              </a:ext>
            </a:extLst>
          </p:cNvPr>
          <p:cNvSpPr txBox="1"/>
          <p:nvPr/>
        </p:nvSpPr>
        <p:spPr>
          <a:xfrm>
            <a:off x="0" y="175116"/>
            <a:ext cx="7772400" cy="1231106"/>
          </a:xfrm>
          <a:prstGeom prst="rect">
            <a:avLst/>
          </a:prstGeom>
          <a:noFill/>
        </p:spPr>
        <p:txBody>
          <a:bodyPr wrap="square">
            <a:spAutoFit/>
          </a:bodyPr>
          <a:lstStyle/>
          <a:p>
            <a:pPr algn="ctr"/>
            <a:r>
              <a:rPr lang="en-US" sz="2400" b="1" dirty="0">
                <a:latin typeface="Google Sans" panose="020B0604020202020204" charset="0"/>
                <a:ea typeface="Google Sans" panose="020B0604020202020204" charset="0"/>
                <a:cs typeface="Google Sans" panose="020B0604020202020204" charset="0"/>
              </a:rPr>
              <a:t>Executive Summary: Data Preparation</a:t>
            </a:r>
          </a:p>
          <a:p>
            <a:pPr>
              <a:buNone/>
            </a:pPr>
            <a:endParaRPr lang="en-US" sz="1800" b="0" dirty="0">
              <a:effectLst/>
            </a:endParaRPr>
          </a:p>
          <a:p>
            <a:pPr algn="ctr">
              <a:buNone/>
            </a:pPr>
            <a:r>
              <a:rPr lang="en-US" sz="1800" dirty="0" err="1">
                <a:latin typeface="PT Sans Narrow" panose="020B0506020203020204" pitchFamily="34" charset="0"/>
              </a:rPr>
              <a:t>Tiktok</a:t>
            </a:r>
            <a:r>
              <a:rPr lang="en-US" sz="1800" dirty="0">
                <a:latin typeface="PT Sans Narrow" panose="020B0506020203020204" pitchFamily="34" charset="0"/>
              </a:rPr>
              <a:t> Claims </a:t>
            </a:r>
            <a:r>
              <a:rPr lang="en-US" sz="1800" dirty="0" err="1">
                <a:latin typeface="PT Sans Narrow" panose="020B0506020203020204" pitchFamily="34" charset="0"/>
              </a:rPr>
              <a:t>Classifcation</a:t>
            </a:r>
            <a:r>
              <a:rPr lang="en-US" sz="1800" dirty="0">
                <a:latin typeface="PT Sans Narrow" panose="020B0506020203020204" pitchFamily="34" charset="0"/>
              </a:rPr>
              <a:t> Project</a:t>
            </a:r>
            <a:br>
              <a:rPr lang="en-US" dirty="0"/>
            </a:b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7</TotalTime>
  <Words>270</Words>
  <Application>Microsoft Office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vt:i4>
      </vt:variant>
    </vt:vector>
  </HeadingPairs>
  <TitlesOfParts>
    <vt:vector size="12" baseType="lpstr">
      <vt:lpstr>Google Sans</vt:lpstr>
      <vt:lpstr>Work Sans</vt:lpstr>
      <vt:lpstr>Lato</vt:lpstr>
      <vt:lpstr>Courier New</vt:lpstr>
      <vt:lpstr>Roboto</vt:lpstr>
      <vt:lpstr>Google Sans SemiBold</vt:lpstr>
      <vt:lpstr>Arial</vt:lpstr>
      <vt:lpstr>Calibri</vt:lpstr>
      <vt:lpstr>PT Sans Narrow</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DANG DUNG#</cp:lastModifiedBy>
  <cp:revision>1</cp:revision>
  <dcterms:modified xsi:type="dcterms:W3CDTF">2026-03-31T14:52:52Z</dcterms:modified>
</cp:coreProperties>
</file>